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8A7E"/>
                </a:solidFill>
                <a:latin typeface="Trebuchet MS"/>
              </a:rPr>
              <a:t>🐠  Black Girls Code · Godot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213039"/>
                </a:solidFill>
                <a:latin typeface="Trebuchet MS"/>
              </a:rPr>
              <a:t>Make Your First Godot Game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54666F"/>
                </a:solidFill>
                <a:latin typeface="Verdana"/>
              </a:rPr>
              <a:t>Reef Runner — a game where YOU built the hero.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8A7E"/>
                </a:solidFill>
                <a:latin typeface="Trebuchet MS"/>
              </a:rPr>
              <a:t>TODAY'S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213039"/>
                </a:solidFill>
                <a:latin typeface="Trebuchet MS"/>
              </a:rPr>
              <a:t>By the end of today…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200400"/>
            <a:ext cx="92354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0">
                <a:solidFill>
                  <a:srgbClr val="54666F"/>
                </a:solidFill>
                <a:latin typeface="Verdana"/>
              </a:rPr>
              <a:t>a character </a:t>
            </a:r>
            <a:r>
              <a:rPr sz="2800" b="1">
                <a:solidFill>
                  <a:srgbClr val="0F8A7E"/>
                </a:solidFill>
                <a:latin typeface="Verdana"/>
              </a:rPr>
              <a:t>you make</a:t>
            </a:r>
            <a:r>
              <a:rPr sz="2800" b="0">
                <a:solidFill>
                  <a:srgbClr val="54666F"/>
                </a:solidFill>
                <a:latin typeface="Verdana"/>
              </a:rPr>
              <a:t> will </a:t>
            </a:r>
            <a:r>
              <a:rPr sz="2800" b="1">
                <a:solidFill>
                  <a:srgbClr val="2F7FBF"/>
                </a:solidFill>
                <a:latin typeface="Verdana"/>
              </a:rPr>
              <a:t>walk</a:t>
            </a:r>
            <a:r>
              <a:rPr sz="2800" b="0">
                <a:solidFill>
                  <a:srgbClr val="54666F"/>
                </a:solidFill>
                <a:latin typeface="Verdana"/>
              </a:rPr>
              <a:t> and </a:t>
            </a:r>
            <a:r>
              <a:rPr sz="2800" b="1">
                <a:solidFill>
                  <a:srgbClr val="C9821F"/>
                </a:solidFill>
                <a:latin typeface="Verdana"/>
              </a:rPr>
              <a:t>jump</a:t>
            </a:r>
            <a:r>
              <a:rPr sz="2800" b="0">
                <a:solidFill>
                  <a:srgbClr val="54666F"/>
                </a:solidFill>
                <a:latin typeface="Verdana"/>
              </a:rPr>
              <a:t> when you press the keys.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8A7E"/>
                </a:solidFill>
                <a:latin typeface="Trebuchet MS"/>
              </a:rPr>
              <a:t>THE SECRET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213039"/>
                </a:solidFill>
                <a:latin typeface="Trebuchet MS"/>
              </a:rPr>
              <a:t>Godot is just 4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54666F"/>
                </a:solidFill>
                <a:latin typeface="Verdana"/>
              </a:rPr>
              <a:t>They never move. Learn the 4 colours and you know Godot.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2514600"/>
            <a:ext cx="7223760" cy="713232"/>
          </a:xfrm>
          <a:prstGeom prst="roundRect">
            <a:avLst>
              <a:gd name="adj" fmla="val 12000"/>
            </a:avLst>
          </a:prstGeom>
          <a:solidFill>
            <a:srgbClr val="FAEECD"/>
          </a:solidFill>
          <a:ln w="27940">
            <a:solidFill>
              <a:srgbClr val="C98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2514600"/>
            <a:ext cx="72237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C9821F"/>
                </a:solidFill>
                <a:latin typeface="Trebuchet MS"/>
              </a:rPr>
              <a:t>▲  Menus  &amp;  ▶ GO button (Play, top-right)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3355848"/>
            <a:ext cx="1733702" cy="1298448"/>
          </a:xfrm>
          <a:prstGeom prst="roundRect">
            <a:avLst>
              <a:gd name="adj" fmla="val 12000"/>
            </a:avLst>
          </a:prstGeom>
          <a:solidFill>
            <a:srgbClr val="DCF0EC"/>
          </a:solidFill>
          <a:ln w="27940">
            <a:solidFill>
              <a:srgbClr val="0F8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3355848"/>
            <a:ext cx="1733702" cy="1298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8A7E"/>
                </a:solidFill>
                <a:latin typeface="Trebuchet MS"/>
              </a:rPr>
              <a:t>Parts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8A7E"/>
                </a:solidFill>
                <a:latin typeface="Verdana"/>
              </a:rPr>
              <a:t>your pieces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4782312"/>
            <a:ext cx="1733702" cy="1298448"/>
          </a:xfrm>
          <a:prstGeom prst="roundRect">
            <a:avLst>
              <a:gd name="adj" fmla="val 12000"/>
            </a:avLst>
          </a:prstGeom>
          <a:solidFill>
            <a:srgbClr val="EAE4F6"/>
          </a:solidFill>
          <a:ln w="27940">
            <a:solidFill>
              <a:srgbClr val="7D5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4782312"/>
            <a:ext cx="1733702" cy="1298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7D5CC4"/>
                </a:solidFill>
                <a:latin typeface="Trebuchet MS"/>
              </a:rPr>
              <a:t>Files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7D5CC4"/>
                </a:solidFill>
                <a:latin typeface="Verdana"/>
              </a:rPr>
              <a:t>your stuff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0598" y="3355848"/>
            <a:ext cx="3250692" cy="2724912"/>
          </a:xfrm>
          <a:prstGeom prst="roundRect">
            <a:avLst>
              <a:gd name="adj" fmla="val 12000"/>
            </a:avLst>
          </a:prstGeom>
          <a:solidFill>
            <a:srgbClr val="E4EFF8"/>
          </a:solidFill>
          <a:ln w="27940">
            <a:solidFill>
              <a:srgbClr val="2F7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0598" y="3355848"/>
            <a:ext cx="3250692" cy="2724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2F7FBF"/>
                </a:solidFill>
                <a:latin typeface="Trebuchet MS"/>
              </a:rPr>
              <a:t>Stage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F7FBF"/>
                </a:solidFill>
                <a:latin typeface="Verdana"/>
              </a:rPr>
              <a:t>see your game here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09306" y="3355848"/>
            <a:ext cx="2239365" cy="2724912"/>
          </a:xfrm>
          <a:prstGeom prst="roundRect">
            <a:avLst>
              <a:gd name="adj" fmla="val 12000"/>
            </a:avLst>
          </a:prstGeom>
          <a:solidFill>
            <a:srgbClr val="FBE6E0"/>
          </a:solidFill>
          <a:ln w="27940">
            <a:solidFill>
              <a:srgbClr val="E56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09306" y="3355848"/>
            <a:ext cx="2239365" cy="2724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E56A53"/>
                </a:solidFill>
                <a:latin typeface="Trebuchet MS"/>
              </a:rPr>
              <a:t>Settings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E56A53"/>
                </a:solidFill>
                <a:latin typeface="Verdana"/>
              </a:rPr>
              <a:t>the knobs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8A7E"/>
                </a:solidFill>
                <a:latin typeface="Trebuchet MS"/>
              </a:rPr>
              <a:t>AREA 1 OF 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63927" y="1965960"/>
            <a:ext cx="7863840" cy="3383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38100">
            <a:solidFill>
              <a:srgbClr val="0F8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38647" y="2423160"/>
            <a:ext cx="914400" cy="914400"/>
          </a:xfrm>
          <a:prstGeom prst="roundRect">
            <a:avLst>
              <a:gd name="adj" fmla="val 28000"/>
            </a:avLst>
          </a:prstGeom>
          <a:solidFill>
            <a:srgbClr val="0F8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3927" y="347472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213039"/>
                </a:solidFill>
                <a:latin typeface="Trebuchet MS"/>
              </a:rPr>
              <a:t>Parts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86887" y="4251960"/>
            <a:ext cx="6217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54666F"/>
                </a:solidFill>
                <a:latin typeface="Verdana"/>
              </a:rPr>
              <a:t>Every piece of your game — player, ground, coin — stacked like Lego. Top-left.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F7FBF"/>
                </a:solidFill>
                <a:latin typeface="Trebuchet MS"/>
              </a:rPr>
              <a:t>AREA 2 OF 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63927" y="1965960"/>
            <a:ext cx="7863840" cy="3383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38100">
            <a:solidFill>
              <a:srgbClr val="2F7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38647" y="2423160"/>
            <a:ext cx="914400" cy="914400"/>
          </a:xfrm>
          <a:prstGeom prst="roundRect">
            <a:avLst>
              <a:gd name="adj" fmla="val 28000"/>
            </a:avLst>
          </a:prstGeom>
          <a:solidFill>
            <a:srgbClr val="2F7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3927" y="347472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213039"/>
                </a:solidFill>
                <a:latin typeface="Trebuchet MS"/>
              </a:rPr>
              <a:t>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86887" y="4251960"/>
            <a:ext cx="6217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54666F"/>
                </a:solidFill>
                <a:latin typeface="Verdana"/>
              </a:rPr>
              <a:t>The big middle window where you SEE your game and drag things around.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56A53"/>
                </a:solidFill>
                <a:latin typeface="Trebuchet MS"/>
              </a:rPr>
              <a:t>AREA 3 OF 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63927" y="1965960"/>
            <a:ext cx="7863840" cy="3383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38100">
            <a:solidFill>
              <a:srgbClr val="E56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38647" y="2423160"/>
            <a:ext cx="914400" cy="914400"/>
          </a:xfrm>
          <a:prstGeom prst="roundRect">
            <a:avLst>
              <a:gd name="adj" fmla="val 28000"/>
            </a:avLst>
          </a:prstGeom>
          <a:solidFill>
            <a:srgbClr val="E56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3927" y="347472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213039"/>
                </a:solidFill>
                <a:latin typeface="Trebuchet MS"/>
              </a:rPr>
              <a:t>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86887" y="4251960"/>
            <a:ext cx="6217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54666F"/>
                </a:solidFill>
                <a:latin typeface="Verdana"/>
              </a:rPr>
              <a:t>Click any piece and its knobs — size, speed, picture — show up here. Right side.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7D5CC4"/>
                </a:solidFill>
                <a:latin typeface="Trebuchet MS"/>
              </a:rPr>
              <a:t>AREA 4 OF 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63927" y="1965960"/>
            <a:ext cx="7863840" cy="3383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38100">
            <a:solidFill>
              <a:srgbClr val="7D5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38647" y="2423160"/>
            <a:ext cx="914400" cy="914400"/>
          </a:xfrm>
          <a:prstGeom prst="roundRect">
            <a:avLst>
              <a:gd name="adj" fmla="val 28000"/>
            </a:avLst>
          </a:prstGeom>
          <a:solidFill>
            <a:srgbClr val="7D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3927" y="347472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213039"/>
                </a:solidFill>
                <a:latin typeface="Trebuchet MS"/>
              </a:rPr>
              <a:t>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86887" y="4251960"/>
            <a:ext cx="6217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54666F"/>
                </a:solidFill>
                <a:latin typeface="Verdana"/>
              </a:rPr>
              <a:t>Your stuff box — every picture and sound lives here. Bottom-left.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9821F"/>
                </a:solidFill>
                <a:latin typeface="Trebuchet MS"/>
              </a:rPr>
              <a:t>AND ONE BUTTON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63927" y="1965960"/>
            <a:ext cx="7863840" cy="3383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38100">
            <a:solidFill>
              <a:srgbClr val="C98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38647" y="2423160"/>
            <a:ext cx="914400" cy="914400"/>
          </a:xfrm>
          <a:prstGeom prst="roundRect">
            <a:avLst>
              <a:gd name="adj" fmla="val 28000"/>
            </a:avLst>
          </a:prstGeom>
          <a:solidFill>
            <a:srgbClr val="C9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38647" y="2423160"/>
            <a:ext cx="914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Trebuchet MS"/>
              </a:rPr>
              <a:t>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3927" y="347472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213039"/>
                </a:solidFill>
                <a:latin typeface="Trebuchet MS"/>
              </a:rPr>
              <a:t>GO / 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6887" y="4251960"/>
            <a:ext cx="6217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54666F"/>
                </a:solidFill>
                <a:latin typeface="Verdana"/>
              </a:rPr>
              <a:t>Top-right. Press it to play your game for real.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8A7E"/>
                </a:solidFill>
                <a:latin typeface="Trebuchet MS"/>
              </a:rPr>
              <a:t>4 WORDS YOU'LL HEAR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213039"/>
                </a:solidFill>
                <a:latin typeface="Trebuchet MS"/>
              </a:rPr>
              <a:t>That's the whole vocabulary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8067" y="2286000"/>
            <a:ext cx="49377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DD8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067" y="2286000"/>
            <a:ext cx="109728" cy="1417320"/>
          </a:xfrm>
          <a:prstGeom prst="rect">
            <a:avLst/>
          </a:prstGeom>
          <a:solidFill>
            <a:srgbClr val="0F8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18107" y="2450592"/>
            <a:ext cx="43891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8A7E"/>
                </a:solidFill>
                <a:latin typeface="Trebuchet MS"/>
              </a:rPr>
              <a:t>Node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4666F"/>
                </a:solidFill>
                <a:latin typeface="Verdana"/>
              </a:rPr>
              <a:t>one Lego brick — a picture, a sound, a shape.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5867" y="2286000"/>
            <a:ext cx="49377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DD8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55867" y="2286000"/>
            <a:ext cx="109728" cy="1417320"/>
          </a:xfrm>
          <a:prstGeom prst="rect">
            <a:avLst/>
          </a:prstGeom>
          <a:solidFill>
            <a:srgbClr val="2F7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75907" y="2450592"/>
            <a:ext cx="43891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2F7FBF"/>
                </a:solidFill>
                <a:latin typeface="Trebuchet MS"/>
              </a:rPr>
              <a:t>Scene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4666F"/>
                </a:solidFill>
                <a:latin typeface="Verdana"/>
              </a:rPr>
              <a:t>bricks clicked together into one thing (your Player).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8067" y="4023360"/>
            <a:ext cx="49377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DD8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8067" y="4023360"/>
            <a:ext cx="109728" cy="1417320"/>
          </a:xfrm>
          <a:prstGeom prst="rect">
            <a:avLst/>
          </a:prstGeom>
          <a:solidFill>
            <a:srgbClr val="E56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18107" y="4187952"/>
            <a:ext cx="43891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56A53"/>
                </a:solidFill>
                <a:latin typeface="Trebuchet MS"/>
              </a:rPr>
              <a:t>Inspector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4666F"/>
                </a:solidFill>
                <a:latin typeface="Verdana"/>
              </a:rPr>
              <a:t>the settings panel — the knobs.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5867" y="4023360"/>
            <a:ext cx="49377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DD8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5867" y="4023360"/>
            <a:ext cx="109728" cy="1417320"/>
          </a:xfrm>
          <a:prstGeom prst="rect">
            <a:avLst/>
          </a:prstGeom>
          <a:solidFill>
            <a:srgbClr val="C9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5907" y="4187952"/>
            <a:ext cx="43891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C9821F"/>
                </a:solidFill>
                <a:latin typeface="Trebuchet MS"/>
              </a:rPr>
              <a:t>Script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4666F"/>
                </a:solidFill>
                <a:latin typeface="Verdana"/>
              </a:rPr>
              <a:t>a page of instructions — the brain.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8A7E"/>
                </a:solidFill>
                <a:latin typeface="Trebuchet MS"/>
              </a:rPr>
              <a:t>NOW WE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213039"/>
                </a:solidFill>
                <a:latin typeface="Trebuchet MS"/>
              </a:rPr>
              <a:t>7 small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77639" y="21488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8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77639" y="21488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2148840"/>
            <a:ext cx="5029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213039"/>
                </a:solidFill>
                <a:latin typeface="Verdana"/>
              </a:rPr>
              <a:t>Open Godot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271576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8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77639" y="271576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715768"/>
            <a:ext cx="5029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213039"/>
                </a:solidFill>
                <a:latin typeface="Verdana"/>
              </a:rPr>
              <a:t>Make the character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328269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8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39" y="328269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282696"/>
            <a:ext cx="5029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213039"/>
                </a:solidFill>
                <a:latin typeface="Verdana"/>
              </a:rPr>
              <a:t>Picture + bump-shape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384962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8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39" y="384962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849624"/>
            <a:ext cx="5029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213039"/>
                </a:solidFill>
                <a:latin typeface="Verdana"/>
              </a:rPr>
              <a:t>Teach the keys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44165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8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77639" y="441655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Trebuchet M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416552"/>
            <a:ext cx="5029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213039"/>
                </a:solidFill>
                <a:latin typeface="Verdana"/>
              </a:rPr>
              <a:t>Give her a brain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77639" y="4983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8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77639" y="49834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Trebuchet M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983480"/>
            <a:ext cx="5029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213039"/>
                </a:solidFill>
                <a:latin typeface="Verdana"/>
              </a:rPr>
              <a:t>Add the ground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77639" y="55504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8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555040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Trebuchet MS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5550408"/>
            <a:ext cx="5029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213039"/>
                </a:solidFill>
                <a:latin typeface="Verdana"/>
              </a:rPr>
              <a:t>Press GO 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8A7E"/>
                </a:solidFill>
                <a:latin typeface="Trebuchet MS"/>
              </a:rPr>
              <a:t>STEP 1 OF 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943703" y="1600200"/>
            <a:ext cx="2304288" cy="502920"/>
          </a:xfrm>
          <a:prstGeom prst="roundRect">
            <a:avLst>
              <a:gd name="adj" fmla="val 50000"/>
            </a:avLst>
          </a:prstGeom>
          <a:solidFill>
            <a:srgbClr val="FAE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43703" y="1600200"/>
            <a:ext cx="23042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9821F"/>
                </a:solidFill>
                <a:latin typeface="Trebuchet MS"/>
              </a:rPr>
              <a:t>TOP 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213039"/>
                </a:solidFill>
                <a:latin typeface="Trebuchet MS"/>
              </a:rPr>
              <a:t>Open Godot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337560"/>
            <a:ext cx="66751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213039"/>
                </a:solidFill>
                <a:latin typeface="Verdana"/>
              </a:rPr>
              <a:t>• From scratch: </a:t>
            </a:r>
            <a:r>
              <a:rPr sz="1800" b="0">
                <a:solidFill>
                  <a:srgbClr val="54666F"/>
                </a:solidFill>
                <a:latin typeface="Verdana"/>
              </a:rPr>
              <a:t>+ New Project → name it → Create &amp; Edit.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213039"/>
                </a:solidFill>
                <a:latin typeface="Verdana"/>
              </a:rPr>
              <a:t>• Camp gave you one: </a:t>
            </a:r>
            <a:r>
              <a:rPr sz="1800" b="0">
                <a:solidFill>
                  <a:srgbClr val="54666F"/>
                </a:solidFill>
                <a:latin typeface="Verdana"/>
              </a:rPr>
              <a:t>Import → open its project.godot → Import &amp; Edit.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8247" y="5669280"/>
            <a:ext cx="7315200" cy="777240"/>
          </a:xfrm>
          <a:prstGeom prst="roundRect">
            <a:avLst>
              <a:gd name="adj" fmla="val 20000"/>
            </a:avLst>
          </a:prstGeom>
          <a:solidFill>
            <a:srgbClr val="DC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12567" y="5669280"/>
            <a:ext cx="6766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8A7E"/>
                </a:solidFill>
                <a:latin typeface="Verdana"/>
              </a:rPr>
              <a:t>Look for: </a:t>
            </a:r>
            <a:r>
              <a:rPr sz="1600" b="0">
                <a:solidFill>
                  <a:srgbClr val="213039"/>
                </a:solidFill>
                <a:latin typeface="Verdana"/>
              </a:rPr>
              <a:t>the 4 colour areas appear. You're home.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8A7E"/>
                </a:solidFill>
                <a:latin typeface="Trebuchet MS"/>
              </a:rPr>
              <a:t>STEP 2 OF 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724247" y="1600200"/>
            <a:ext cx="2743200" cy="502920"/>
          </a:xfrm>
          <a:prstGeom prst="roundRect">
            <a:avLst>
              <a:gd name="adj" fmla="val 50000"/>
            </a:avLst>
          </a:prstGeom>
          <a:solidFill>
            <a:srgbClr val="DC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24247" y="160020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8A7E"/>
                </a:solidFill>
                <a:latin typeface="Trebuchet MS"/>
              </a:rPr>
              <a:t>PARTS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213039"/>
                </a:solidFill>
                <a:latin typeface="Trebuchet MS"/>
              </a:rPr>
              <a:t>Make the character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337560"/>
            <a:ext cx="66751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213039"/>
                </a:solidFill>
                <a:latin typeface="Verdana"/>
              </a:rPr>
              <a:t>• Add node → search </a:t>
            </a:r>
            <a:r>
              <a:rPr sz="1800" b="1">
                <a:solidFill>
                  <a:srgbClr val="0F8A7E"/>
                </a:solidFill>
                <a:latin typeface="Verdana"/>
              </a:rPr>
              <a:t>CharacterBody2D</a:t>
            </a:r>
            <a:r>
              <a:rPr sz="1800" b="0">
                <a:solidFill>
                  <a:srgbClr val="213039"/>
                </a:solidFill>
                <a:latin typeface="Verdana"/>
              </a:rPr>
              <a:t> → Create.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213039"/>
                </a:solidFill>
                <a:latin typeface="Verdana"/>
              </a:rPr>
              <a:t>• Rename it </a:t>
            </a:r>
            <a:r>
              <a:rPr sz="1800" b="1">
                <a:solidFill>
                  <a:srgbClr val="0F8A7E"/>
                </a:solidFill>
                <a:latin typeface="Verdana"/>
              </a:rPr>
              <a:t>Player</a:t>
            </a:r>
            <a:r>
              <a:rPr sz="1800" b="0">
                <a:solidFill>
                  <a:srgbClr val="213039"/>
                </a:solidFill>
                <a:latin typeface="Verdana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8247" y="5669280"/>
            <a:ext cx="7315200" cy="777240"/>
          </a:xfrm>
          <a:prstGeom prst="roundRect">
            <a:avLst>
              <a:gd name="adj" fmla="val 20000"/>
            </a:avLst>
          </a:prstGeom>
          <a:solidFill>
            <a:srgbClr val="DC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12567" y="5669280"/>
            <a:ext cx="6766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8A7E"/>
                </a:solidFill>
                <a:latin typeface="Verdana"/>
              </a:rPr>
              <a:t>Why: </a:t>
            </a:r>
            <a:r>
              <a:rPr sz="1600" b="0">
                <a:solidFill>
                  <a:srgbClr val="213039"/>
                </a:solidFill>
                <a:latin typeface="Verdana"/>
              </a:rPr>
              <a:t>this is the body a player controls that bumps into walls &amp; floors.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8A7E"/>
                </a:solidFill>
                <a:latin typeface="Trebuchet MS"/>
              </a:rPr>
              <a:t>STEP 3 OF 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85335" y="1600200"/>
            <a:ext cx="3621024" cy="502920"/>
          </a:xfrm>
          <a:prstGeom prst="roundRect">
            <a:avLst>
              <a:gd name="adj" fmla="val 50000"/>
            </a:avLst>
          </a:prstGeom>
          <a:solidFill>
            <a:srgbClr val="DC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85335" y="1600200"/>
            <a:ext cx="362102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8A7E"/>
                </a:solidFill>
                <a:latin typeface="Trebuchet MS"/>
              </a:rPr>
              <a:t>PARTS +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213039"/>
                </a:solidFill>
                <a:latin typeface="Trebuchet MS"/>
              </a:rPr>
              <a:t>Picture + bump-shape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337560"/>
            <a:ext cx="66751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213039"/>
                </a:solidFill>
                <a:latin typeface="Verdana"/>
              </a:rPr>
              <a:t>• Add Child → </a:t>
            </a:r>
            <a:r>
              <a:rPr sz="1800" b="1">
                <a:solidFill>
                  <a:srgbClr val="0F8A7E"/>
                </a:solidFill>
                <a:latin typeface="Verdana"/>
              </a:rPr>
              <a:t>Sprite2D</a:t>
            </a:r>
            <a:r>
              <a:rPr sz="1800" b="0">
                <a:solidFill>
                  <a:srgbClr val="54666F"/>
                </a:solidFill>
                <a:latin typeface="Verdana"/>
              </a:rPr>
              <a:t> = her picture. (No art? use icon.svg.)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213039"/>
                </a:solidFill>
                <a:latin typeface="Verdana"/>
              </a:rPr>
              <a:t>• Add Child → </a:t>
            </a:r>
            <a:r>
              <a:rPr sz="1800" b="1">
                <a:solidFill>
                  <a:srgbClr val="0F8A7E"/>
                </a:solidFill>
                <a:latin typeface="Verdana"/>
              </a:rPr>
              <a:t>CollisionShape2D</a:t>
            </a:r>
            <a:r>
              <a:rPr sz="1800" b="0">
                <a:solidFill>
                  <a:srgbClr val="54666F"/>
                </a:solidFill>
                <a:latin typeface="Verdana"/>
              </a:rPr>
              <a:t> = her bump-shape. Give it a Rectangle.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8A7E"/>
                </a:solidFill>
                <a:latin typeface="Trebuchet MS"/>
              </a:rPr>
              <a:t>STEP 4 OF 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943703" y="1600200"/>
            <a:ext cx="2304288" cy="502920"/>
          </a:xfrm>
          <a:prstGeom prst="roundRect">
            <a:avLst>
              <a:gd name="adj" fmla="val 50000"/>
            </a:avLst>
          </a:prstGeom>
          <a:solidFill>
            <a:srgbClr val="FAE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43703" y="1600200"/>
            <a:ext cx="23042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9821F"/>
                </a:solidFill>
                <a:latin typeface="Trebuchet MS"/>
              </a:rPr>
              <a:t>TOP 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213039"/>
                </a:solidFill>
                <a:latin typeface="Trebuchet MS"/>
              </a:rPr>
              <a:t>Teach Godot the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337560"/>
            <a:ext cx="66751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213039"/>
                </a:solidFill>
                <a:latin typeface="Verdana"/>
              </a:rPr>
              <a:t>• Project → Project Settings → </a:t>
            </a:r>
            <a:r>
              <a:rPr sz="1800" b="1">
                <a:solidFill>
                  <a:srgbClr val="C9821F"/>
                </a:solidFill>
                <a:latin typeface="Verdana"/>
              </a:rPr>
              <a:t>Input Map</a:t>
            </a:r>
            <a:r>
              <a:rPr sz="1800" b="0">
                <a:solidFill>
                  <a:srgbClr val="213039"/>
                </a:solidFill>
                <a:latin typeface="Verdana"/>
              </a:rPr>
              <a:t>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213039"/>
                </a:solidFill>
                <a:latin typeface="Verdana"/>
              </a:rPr>
              <a:t>• Add 3 actions, spelled exactly: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F8A7E"/>
                </a:solidFill>
                <a:latin typeface="Verdana"/>
              </a:rPr>
              <a:t>     move_left · move_right · jump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8247" y="5669280"/>
            <a:ext cx="7315200" cy="777240"/>
          </a:xfrm>
          <a:prstGeom prst="roundRect">
            <a:avLst>
              <a:gd name="adj" fmla="val 20000"/>
            </a:avLst>
          </a:prstGeom>
          <a:solidFill>
            <a:srgbClr val="FB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12567" y="5669280"/>
            <a:ext cx="6766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56A53"/>
                </a:solidFill>
                <a:latin typeface="Verdana"/>
              </a:rPr>
              <a:t>Spelling matters! </a:t>
            </a:r>
            <a:r>
              <a:rPr sz="1600" b="0">
                <a:solidFill>
                  <a:srgbClr val="213039"/>
                </a:solidFill>
                <a:latin typeface="Verdana"/>
              </a:rPr>
              <a:t>lowercase, with the underscore.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8A7E"/>
                </a:solidFill>
                <a:latin typeface="Trebuchet MS"/>
              </a:rPr>
              <a:t>STEP 5 OF 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31639" y="1600200"/>
            <a:ext cx="3328416" cy="502920"/>
          </a:xfrm>
          <a:prstGeom prst="roundRect">
            <a:avLst>
              <a:gd name="adj" fmla="val 50000"/>
            </a:avLst>
          </a:prstGeom>
          <a:solidFill>
            <a:srgbClr val="DC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431639" y="1600200"/>
            <a:ext cx="332841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8A7E"/>
                </a:solidFill>
                <a:latin typeface="Trebuchet MS"/>
              </a:rPr>
              <a:t>PARTS →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213039"/>
                </a:solidFill>
                <a:latin typeface="Trebuchet MS"/>
              </a:rPr>
              <a:t>Give her a brain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337560"/>
            <a:ext cx="66751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213039"/>
                </a:solidFill>
                <a:latin typeface="Verdana"/>
              </a:rPr>
              <a:t>• Right-click Player → </a:t>
            </a:r>
            <a:r>
              <a:rPr sz="1800" b="1">
                <a:solidFill>
                  <a:srgbClr val="0F8A7E"/>
                </a:solidFill>
                <a:latin typeface="Verdana"/>
              </a:rPr>
              <a:t>Attach Script</a:t>
            </a:r>
            <a:r>
              <a:rPr sz="1800" b="0">
                <a:solidFill>
                  <a:srgbClr val="54666F"/>
                </a:solidFill>
                <a:latin typeface="Verdana"/>
              </a:rPr>
              <a:t>. In plain words it says: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0F8A7E"/>
                </a:solidFill>
                <a:latin typeface="Verdana"/>
              </a:rPr>
              <a:t>     # fall if not on the ground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0F8A7E"/>
                </a:solidFill>
                <a:latin typeface="Verdana"/>
              </a:rPr>
              <a:t>     # slide left/right with the arrows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0F8A7E"/>
                </a:solidFill>
                <a:latin typeface="Verdana"/>
              </a:rPr>
              <a:t>     # jump if Space + on the ground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0F8A7E"/>
                </a:solidFill>
                <a:latin typeface="Verdana"/>
              </a:rPr>
              <a:t>     # flip to face the way she walks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8A7E"/>
                </a:solidFill>
                <a:latin typeface="Trebuchet MS"/>
              </a:rPr>
              <a:t>STEP 6 OF 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724247" y="1600200"/>
            <a:ext cx="2743200" cy="502920"/>
          </a:xfrm>
          <a:prstGeom prst="roundRect">
            <a:avLst>
              <a:gd name="adj" fmla="val 50000"/>
            </a:avLst>
          </a:prstGeom>
          <a:solidFill>
            <a:srgbClr val="DC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24247" y="160020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8A7E"/>
                </a:solidFill>
                <a:latin typeface="Trebuchet MS"/>
              </a:rPr>
              <a:t>PARTS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213039"/>
                </a:solidFill>
                <a:latin typeface="Trebuchet MS"/>
              </a:rPr>
              <a:t>Give her 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337560"/>
            <a:ext cx="66751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213039"/>
                </a:solidFill>
                <a:latin typeface="Verdana"/>
              </a:rPr>
              <a:t>• New scene → </a:t>
            </a:r>
            <a:r>
              <a:rPr sz="1800" b="1">
                <a:solidFill>
                  <a:srgbClr val="0F8A7E"/>
                </a:solidFill>
                <a:latin typeface="Verdana"/>
              </a:rPr>
              <a:t>Node2D</a:t>
            </a:r>
            <a:r>
              <a:rPr sz="1800" b="0">
                <a:solidFill>
                  <a:srgbClr val="213039"/>
                </a:solidFill>
                <a:latin typeface="Verdana"/>
              </a:rPr>
              <a:t>, name it Level.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213039"/>
                </a:solidFill>
                <a:latin typeface="Verdana"/>
              </a:rPr>
              <a:t>• Add a </a:t>
            </a:r>
            <a:r>
              <a:rPr sz="1800" b="1">
                <a:solidFill>
                  <a:srgbClr val="0F8A7E"/>
                </a:solidFill>
                <a:latin typeface="Verdana"/>
              </a:rPr>
              <a:t>StaticBody2D</a:t>
            </a:r>
            <a:r>
              <a:rPr sz="1800" b="0">
                <a:solidFill>
                  <a:srgbClr val="213039"/>
                </a:solidFill>
                <a:latin typeface="Verdana"/>
              </a:rPr>
              <a:t> + CollisionShape2D = the floor.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213039"/>
                </a:solidFill>
                <a:latin typeface="Verdana"/>
              </a:rPr>
              <a:t>• Drag </a:t>
            </a:r>
            <a:r>
              <a:rPr sz="1800" b="1">
                <a:solidFill>
                  <a:srgbClr val="0F8A7E"/>
                </a:solidFill>
                <a:latin typeface="Verdana"/>
              </a:rPr>
              <a:t>Player</a:t>
            </a:r>
            <a:r>
              <a:rPr sz="1800" b="0">
                <a:solidFill>
                  <a:srgbClr val="213039"/>
                </a:solidFill>
                <a:latin typeface="Verdana"/>
              </a:rPr>
              <a:t> in, above the floor.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8247" y="5669280"/>
            <a:ext cx="7315200" cy="777240"/>
          </a:xfrm>
          <a:prstGeom prst="roundRect">
            <a:avLst>
              <a:gd name="adj" fmla="val 20000"/>
            </a:avLst>
          </a:prstGeom>
          <a:solidFill>
            <a:srgbClr val="DC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12567" y="5669280"/>
            <a:ext cx="6766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8A7E"/>
                </a:solidFill>
                <a:latin typeface="Verdana"/>
              </a:rPr>
              <a:t>Why: </a:t>
            </a:r>
            <a:r>
              <a:rPr sz="1600" b="0">
                <a:solidFill>
                  <a:srgbClr val="213039"/>
                </a:solidFill>
                <a:latin typeface="Verdana"/>
              </a:rPr>
              <a:t>without a floor, she falls forever!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8A7E"/>
                </a:solidFill>
                <a:latin typeface="Trebuchet MS"/>
              </a:rPr>
              <a:t>STEP 7 OF 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09463" y="1600200"/>
            <a:ext cx="1572768" cy="502920"/>
          </a:xfrm>
          <a:prstGeom prst="roundRect">
            <a:avLst>
              <a:gd name="adj" fmla="val 50000"/>
            </a:avLst>
          </a:prstGeom>
          <a:solidFill>
            <a:srgbClr val="FAE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9463" y="1600200"/>
            <a:ext cx="157276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9821F"/>
                </a:solidFill>
                <a:latin typeface="Trebuchet MS"/>
              </a:rPr>
              <a:t>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C9821F"/>
                </a:solidFill>
                <a:latin typeface="Trebuchet MS"/>
              </a:rPr>
              <a:t>Press ▶ and play!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337560"/>
            <a:ext cx="66751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213039"/>
                </a:solidFill>
                <a:latin typeface="Verdana"/>
              </a:rPr>
              <a:t>• Press </a:t>
            </a:r>
            <a:r>
              <a:rPr sz="1800" b="1">
                <a:solidFill>
                  <a:srgbClr val="C9821F"/>
                </a:solidFill>
                <a:latin typeface="Verdana"/>
              </a:rPr>
              <a:t>▶ Play</a:t>
            </a:r>
            <a:r>
              <a:rPr sz="1800" b="0">
                <a:solidFill>
                  <a:srgbClr val="213039"/>
                </a:solidFill>
                <a:latin typeface="Verdana"/>
              </a:rPr>
              <a:t> (or F5). Pick Level as the main scene.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213039"/>
                </a:solidFill>
                <a:latin typeface="Verdana"/>
              </a:rPr>
              <a:t>• Arrows to walk. </a:t>
            </a:r>
            <a:r>
              <a:rPr sz="1800" b="1">
                <a:solidFill>
                  <a:srgbClr val="213039"/>
                </a:solidFill>
                <a:latin typeface="Verdana"/>
              </a:rPr>
              <a:t>Space to jump.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56A53"/>
                </a:solidFill>
                <a:latin typeface="Trebuchet MS"/>
              </a:rPr>
              <a:t>TOTALLY NORMAL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>
                <a:solidFill>
                  <a:srgbClr val="213039"/>
                </a:solidFill>
                <a:latin typeface="Trebuchet MS"/>
              </a:rPr>
              <a:t>When it breaks —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>
                <a:solidFill>
                  <a:srgbClr val="213039"/>
                </a:solidFill>
                <a:latin typeface="Trebuchet MS"/>
              </a:rPr>
              <a:t>that's game-making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310896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56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31089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Trebuchet MS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3108960"/>
            <a:ext cx="6217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213039"/>
                </a:solidFill>
                <a:latin typeface="Verdana"/>
              </a:rPr>
              <a:t>Falls through floor? → both need a bump-shape.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388620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56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38862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Trebuchet MS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3886200"/>
            <a:ext cx="6217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213039"/>
                </a:solidFill>
                <a:latin typeface="Verdana"/>
              </a:rPr>
              <a:t>Won't move? → check the key spelling.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46634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56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46634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Trebuchet MS"/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4663440"/>
            <a:ext cx="6217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213039"/>
                </a:solidFill>
                <a:latin typeface="Verdana"/>
              </a:rPr>
              <a:t>Flies away? → jump_force must be negative.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8A7E"/>
                </a:solidFill>
                <a:latin typeface="Trebuchet MS"/>
              </a:rPr>
              <a:t>YOU DID IT 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213039"/>
                </a:solidFill>
                <a:latin typeface="Trebuchet MS"/>
              </a:rPr>
              <a:t>The rest is the same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108960"/>
            <a:ext cx="92354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1400"/>
              </a:spcAft>
            </a:pPr>
            <a:r>
              <a:rPr sz="2400" b="0">
                <a:solidFill>
                  <a:srgbClr val="54666F"/>
                </a:solidFill>
                <a:latin typeface="Verdana"/>
              </a:rPr>
              <a:t>Coins, enemies, score, </a:t>
            </a:r>
            <a:r>
              <a:rPr sz="2400" b="1">
                <a:solidFill>
                  <a:srgbClr val="2F7FBF"/>
                </a:solidFill>
                <a:latin typeface="Verdana"/>
              </a:rPr>
              <a:t>“save the reefs”</a:t>
            </a:r>
            <a:r>
              <a:rPr sz="2400" b="0">
                <a:solidFill>
                  <a:srgbClr val="54666F"/>
                </a:solidFill>
                <a:latin typeface="Verdana"/>
              </a:rPr>
              <a:t> — all just:</a:t>
            </a:r>
          </a:p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1400"/>
              </a:spcAft>
            </a:pPr>
            <a:r>
              <a:rPr sz="2600" b="1">
                <a:solidFill>
                  <a:srgbClr val="0F8A7E"/>
                </a:solidFill>
                <a:latin typeface="Verdana"/>
              </a:rPr>
              <a:t>add a piece</a:t>
            </a:r>
            <a:r>
              <a:rPr sz="2600" b="0">
                <a:solidFill>
                  <a:srgbClr val="54666F"/>
                </a:solidFill>
                <a:latin typeface="Verdana"/>
              </a:rPr>
              <a:t>  ·  </a:t>
            </a:r>
            <a:r>
              <a:rPr sz="2600" b="1">
                <a:solidFill>
                  <a:srgbClr val="E56A53"/>
                </a:solidFill>
                <a:latin typeface="Verdana"/>
              </a:rPr>
              <a:t>give it a brain</a:t>
            </a:r>
            <a:r>
              <a:rPr sz="2600" b="0">
                <a:solidFill>
                  <a:srgbClr val="54666F"/>
                </a:solidFill>
                <a:latin typeface="Verdana"/>
              </a:rPr>
              <a:t>  ·  </a:t>
            </a:r>
            <a:r>
              <a:rPr sz="2600" b="1">
                <a:solidFill>
                  <a:srgbClr val="C9821F"/>
                </a:solidFill>
                <a:latin typeface="Verdana"/>
              </a:rPr>
              <a:t>press GO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213039"/>
                </a:solidFill>
                <a:latin typeface="Trebuchet MS"/>
              </a:rPr>
              <a:t>🐠 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515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213039"/>
                </a:solidFill>
                <a:latin typeface="Trebuchet MS"/>
              </a:rPr>
              <a:t>You're a game maker now.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4805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54666F"/>
                </a:solidFill>
                <a:latin typeface="Verdana"/>
              </a:rPr>
              <a:t>Go build the reef.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